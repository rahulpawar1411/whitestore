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6" r:id="rId11"/>
    <p:sldId id="267" r:id="rId12"/>
    <p:sldId id="269" r:id="rId13"/>
    <p:sldId id="270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nstrument Sans Medium" pitchFamily="2" charset="0"/>
      <p:regular r:id="rId20"/>
    </p:embeddedFont>
    <p:embeddedFont>
      <p:font typeface="Instrument Sans Semi Bold" pitchFamily="2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862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0" y="2286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PROPELPAD  //  WHITE STORE NETWORK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Delivering fresh products,
</a:t>
            </a:r>
            <a:r>
              <a:rPr lang="en-US" sz="4600" b="1" dirty="0">
                <a:solidFill>
                  <a:srgbClr val="3E5CF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every single time.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Propelpad’s White Store network powers hygienic, fast, and reliable fulfilment for frozen and specialty food brands on Zomato &amp; Swiggy.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5806440"/>
            <a:ext cx="3108960" cy="0"/>
          </a:xfrm>
          <a:prstGeom prst="line">
            <a:avLst/>
          </a:prstGeom>
          <a:noFill/>
          <a:ln w="15875">
            <a:solidFill>
              <a:srgbClr val="E1E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propelpad.in   //   9 WHITE STORES  //  MUMBAI &amp; THANE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//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131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E5CF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Not dark stores. Not forgotten warehouses.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631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 Call Them White Stores.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672840"/>
            <a:ext cx="73326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Propelpad facility is clean, bright, and maintained to brand standards, because a premium brand deserves a premium environment, not a warehouse that happens to have Wi-Fi and a delivery bag.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Food-Commerce Is Where Your Customers Are.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5287" y="18516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India’s online food delivery market is on track to nearly double in size by 2031 turning desserts and snacking into an impulse, on demand purchase, not a planned one.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94415" cy="502920"/>
          </a:xfrm>
          <a:prstGeom prst="rect">
            <a:avLst/>
          </a:prstGeom>
          <a:solidFill>
            <a:srgbClr val="E9EC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346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opportunity is massive. But simply being listed on Swiggy or Zomato is not enough.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408736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10-30 Minute Window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4701322"/>
            <a:ext cx="3099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Food-commerce turns desserts and snacks into an impulse, on-demand purchase - not a planned one.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9976" y="352044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36008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6008" y="408736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$61B+ Delivery Market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6008" y="4701322"/>
            <a:ext cx="3099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India’s online food delivery market is on track to nearly double in size by 2031, industry estimates suggest.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11312" y="352044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67344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67344" y="408736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 Untapped Vertical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67344" y="489204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Frozen and specialty food is still underrepresented on quick commerce - early movers claim shelf position first.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//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Numbers That Set Us Apart.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Operations excellence, measured daily across every Propelpad white store.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4.4★ Average Rating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08152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Consistently maintained across all Propelpad white stores on Zomato &amp; Swiggy.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7960" y="27614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95% Order Accuracy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308152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Food Order Ready rate - orders prepared accurately and on time, every time.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8188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99.8% Store Uptime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Near-perfect platform availability - your store is open when customers order.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63640" y="434340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37960" y="48188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1:38 Prep Time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37960" y="513892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 received to packed in under 2 minutes - industry-leading, measured across all 9 stores.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//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 Don’t Just Stock Your Brand.</a:t>
            </a:r>
            <a:endParaRPr lang="en-US" sz="2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3E5CF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 Help You Sell More Of It.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933955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Propelpad’s SKU intelligence engine tracks performance per outlet and time-of-day, so every white store always stocks exactly what moves.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306324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SKU Performance Insights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58768" y="3063240"/>
            <a:ext cx="778428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Which flavours and SKUs sell fastest - tracked per outlet and time-of-day, so you always stock what moves.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94415" cy="0"/>
          </a:xfrm>
          <a:prstGeom prst="line">
            <a:avLst/>
          </a:prstGeom>
          <a:noFill/>
          <a:ln w="12700">
            <a:solidFill>
              <a:srgbClr val="E1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679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3867912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Low-Velocity SKU Alerts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58768" y="3867912"/>
            <a:ext cx="778428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slow-movers before they approach expiry - zero waste, every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94415" cy="0"/>
          </a:xfrm>
          <a:prstGeom prst="line">
            <a:avLst/>
          </a:prstGeom>
          <a:noFill/>
          <a:ln w="12700">
            <a:solidFill>
              <a:srgbClr val="E1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725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4672584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Demand Window Mapping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58768" y="4672584"/>
            <a:ext cx="778428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Weekends, evenings, seasonal peaks - we know exactly when to push each SKU.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422392"/>
            <a:ext cx="11094415" cy="0"/>
          </a:xfrm>
          <a:prstGeom prst="line">
            <a:avLst/>
          </a:prstGeom>
          <a:noFill/>
          <a:ln w="12700">
            <a:solidFill>
              <a:srgbClr val="E1E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47725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5477256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Sell-Through Matching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58768" y="5477256"/>
            <a:ext cx="778428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Reorder cycles matched to real velocity, so stockouts never cost you a sale.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//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Dark Store vs. White Store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30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the two compare, side by side.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77441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Dark Store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788921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E5CF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Dim &amp; Dusty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3291841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Dim, disorganised, and built around </a:t>
            </a:r>
            <a:r>
              <a:rPr lang="en-US" sz="1200" i="1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square footage - not food safety.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749041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this looks like: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114801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 Inventory chaos, no visible SOPs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462273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 Reactive restocking, frequent stockouts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809745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 Generic handling for every category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157217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 Opaque operations, no data access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244851"/>
            <a:ext cx="5257800" cy="3437491"/>
          </a:xfrm>
          <a:prstGeom prst="rect">
            <a:avLst/>
          </a:prstGeom>
          <a:solidFill>
            <a:srgbClr val="3E5CF0"/>
          </a:solidFill>
          <a:ln/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4231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White Store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Bright &amp; Spotless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492240" y="33375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Maintained to brand standards, </a:t>
            </a:r>
            <a:r>
              <a:rPr lang="en-US" sz="1200" i="1" dirty="0">
                <a:solidFill>
                  <a:srgbClr val="E7EC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 just swept once a week.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7947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this looks like: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92240" y="41605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 Brand-compliant, category-specific storage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50799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 Predictive, data-driven buying cycles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85546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 FSSAI-compliant, CCTV-monitored, always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520293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 Full data transparency, every single order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153597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E5CF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13+ brands. One white store network.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17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Brand Family.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1109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13+ leading F&amp;B brands - from heritage dairy to guilt-free indulgence - already trust Propelpad’s white store network.</a:t>
            </a:r>
            <a:endParaRPr lang="en-US" sz="1300" i="1" dirty="0"/>
          </a:p>
        </p:txBody>
      </p:sp>
      <p:pic>
        <p:nvPicPr>
          <p:cNvPr id="6" name="Picture 5" descr="brand_family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949" y="2235381"/>
            <a:ext cx="3202102" cy="28373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//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Inside Our White Stores.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 dark stores. Not forgotten warehouses. Every facility is clean, bright, and built to one hygiene standard - always.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914400" cy="347472"/>
          </a:xfrm>
          <a:prstGeom prst="rect">
            <a:avLst/>
          </a:prstGeom>
          <a:solidFill>
            <a:srgbClr val="E9ECF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FSSAI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27632" y="1965960"/>
            <a:ext cx="1426464" cy="347472"/>
          </a:xfrm>
          <a:prstGeom prst="rect">
            <a:avLst/>
          </a:prstGeom>
          <a:solidFill>
            <a:srgbClr val="E9ECFB"/>
          </a:solidFill>
          <a:ln/>
        </p:spPr>
      </p:sp>
      <p:sp>
        <p:nvSpPr>
          <p:cNvPr id="8" name="Text 6"/>
          <p:cNvSpPr/>
          <p:nvPr/>
        </p:nvSpPr>
        <p:spPr>
          <a:xfrm>
            <a:off x="1764792" y="196596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TEMP-CTRL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965960"/>
            <a:ext cx="658368" cy="347472"/>
          </a:xfrm>
          <a:prstGeom prst="rect">
            <a:avLst/>
          </a:prstGeom>
          <a:solidFill>
            <a:srgbClr val="E9ECFB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1965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41648" y="1965960"/>
            <a:ext cx="2066544" cy="347472"/>
          </a:xfrm>
          <a:prstGeom prst="rect">
            <a:avLst/>
          </a:prstGeom>
          <a:solidFill>
            <a:srgbClr val="E9ECFB"/>
          </a:solidFill>
          <a:ln/>
        </p:spPr>
      </p:sp>
      <p:sp>
        <p:nvSpPr>
          <p:cNvPr id="12" name="Text 10"/>
          <p:cNvSpPr/>
          <p:nvPr/>
        </p:nvSpPr>
        <p:spPr>
          <a:xfrm>
            <a:off x="4178808" y="196596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CCTV-MONITORED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2784" y="1965960"/>
            <a:ext cx="914400" cy="347472"/>
          </a:xfrm>
          <a:prstGeom prst="rect">
            <a:avLst/>
          </a:prstGeom>
          <a:solidFill>
            <a:srgbClr val="E9EC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9944" y="1965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BATCH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51776" y="1965960"/>
            <a:ext cx="1810512" cy="347472"/>
          </a:xfrm>
          <a:prstGeom prst="rect">
            <a:avLst/>
          </a:prstGeom>
          <a:solidFill>
            <a:srgbClr val="E9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488936" y="196596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REAL-TIME QC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650992"/>
            <a:ext cx="11094415" cy="457200"/>
          </a:xfrm>
          <a:prstGeom prst="rect">
            <a:avLst/>
          </a:prstGeom>
          <a:solidFill>
            <a:srgbClr val="E9ECFB"/>
          </a:solidFill>
          <a:ln/>
        </p:spPr>
      </p:sp>
      <p:sp>
        <p:nvSpPr>
          <p:cNvPr id="36" name="Text 34"/>
          <p:cNvSpPr/>
          <p:nvPr/>
        </p:nvSpPr>
        <p:spPr>
          <a:xfrm>
            <a:off x="812074" y="5672764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FSSAI-compliant food safety licensing, temperature-controlled storage, and real-time quality checks before every order leaves the store.</a:t>
            </a:r>
            <a:endParaRPr lang="en-US" sz="1200" dirty="0"/>
          </a:p>
        </p:txBody>
      </p:sp>
      <p:sp>
        <p:nvSpPr>
          <p:cNvPr id="37" name="Rounded Rectangle 36"/>
          <p:cNvSpPr/>
          <p:nvPr/>
        </p:nvSpPr>
        <p:spPr>
          <a:xfrm>
            <a:off x="510540" y="2476500"/>
            <a:ext cx="3603752" cy="2956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294124" y="2476500"/>
            <a:ext cx="3603752" cy="2956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077708" y="2476500"/>
            <a:ext cx="3603752" cy="2956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rcRect t="10823" b="10823"/>
          <a:stretch>
            <a:fillRect/>
          </a:stretch>
        </p:blipFill>
        <p:spPr>
          <a:xfrm>
            <a:off x="548640" y="2514600"/>
            <a:ext cx="3527552" cy="288036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rcRect l="2505" r="2505"/>
          <a:stretch>
            <a:fillRect/>
          </a:stretch>
        </p:blipFill>
        <p:spPr>
          <a:xfrm>
            <a:off x="4332224" y="2514600"/>
            <a:ext cx="3527552" cy="288036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rcRect t="14726" b="14726"/>
          <a:stretch>
            <a:fillRect/>
          </a:stretch>
        </p:blipFill>
        <p:spPr>
          <a:xfrm>
            <a:off x="8115808" y="2514600"/>
            <a:ext cx="352755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//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Buying Efficiency, Built In.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other half of inventory intelligence: buying exactly enough, exactly on time.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922417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9659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Zero Over-Buying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50208" y="1965960"/>
            <a:ext cx="76928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Orders matched precisely to actual sell-through - every rupee converts.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11094415" cy="0"/>
          </a:xfrm>
          <a:prstGeom prst="line">
            <a:avLst/>
          </a:prstGeom>
          <a:noFill/>
          <a:ln w="12700">
            <a:solidFill>
              <a:srgbClr val="E1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80785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26243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Weekly Velocity Cadence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50208" y="2624328"/>
            <a:ext cx="76928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Buying frequency tuned to your exact sales rhythm, SKU by SKU.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11094415" cy="0"/>
          </a:xfrm>
          <a:prstGeom prst="line">
            <a:avLst/>
          </a:prstGeom>
          <a:noFill/>
          <a:ln w="12700">
            <a:solidFill>
              <a:srgbClr val="E1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39153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28269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Seasonal Forecasting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50208" y="3282696"/>
            <a:ext cx="76928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Festivals, summer peaks, and weekend surges - demand modelled in advance.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94415" cy="0"/>
          </a:xfrm>
          <a:prstGeom prst="line">
            <a:avLst/>
          </a:prstGeom>
          <a:noFill/>
          <a:ln w="12700">
            <a:solidFill>
              <a:srgbClr val="E1E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97521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94106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Cold-Chain Batch Sequencing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50208" y="3941064"/>
            <a:ext cx="76928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Older batches move first, automatically, without manual tracking.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44568"/>
            <a:ext cx="11094415" cy="0"/>
          </a:xfrm>
          <a:prstGeom prst="line">
            <a:avLst/>
          </a:prstGeom>
          <a:noFill/>
          <a:ln w="12700">
            <a:solidFill>
              <a:srgbClr val="E1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55889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45994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Perfect Stock Depth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50208" y="4599432"/>
            <a:ext cx="76928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Maximum sales per square foot, with zero waste - always.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solidFill>
            <a:srgbClr val="E9ECF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result: maximum sales per square foot. Zero waste. Perfect stock depth, every single day.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//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 Reasons Your Brand Belongs Here.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525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15568" y="182880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Premium-Grade Cleanliness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950208" y="1828800"/>
            <a:ext cx="76928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 environments that match your product's prestige - every shelf, every freezer, every day.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11094415" cy="0"/>
          </a:xfrm>
          <a:prstGeom prst="line">
            <a:avLst/>
          </a:prstGeom>
          <a:noFill/>
          <a:ln w="12700">
            <a:solidFill>
              <a:srgbClr val="E1E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2650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67004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4.4★ Average Rating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950208" y="2670048"/>
            <a:ext cx="76928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Drives platform visibility and repeat orders on both Zomato and Swiggy.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11094415" cy="0"/>
          </a:xfrm>
          <a:prstGeom prst="line">
            <a:avLst/>
          </a:prstGeom>
          <a:noFill/>
          <a:ln w="12700">
            <a:solidFill>
              <a:srgbClr val="E1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6775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3511296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Sub-2-Minute Pack Time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50208" y="3511296"/>
            <a:ext cx="76928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Ensures your product is dispatched at peak freshness, order after order.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94415" cy="0"/>
          </a:xfrm>
          <a:prstGeom prst="line">
            <a:avLst/>
          </a:prstGeom>
          <a:noFill/>
          <a:ln w="12700">
            <a:solidFill>
              <a:srgbClr val="E1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090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435254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SKU Intelligence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50208" y="4352544"/>
            <a:ext cx="76928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Maximises your best-selling variants and eliminates waste automatically.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38928"/>
            <a:ext cx="11094415" cy="0"/>
          </a:xfrm>
          <a:prstGeom prst="line">
            <a:avLst/>
          </a:prstGeom>
          <a:noFill/>
          <a:ln w="12700">
            <a:solidFill>
              <a:srgbClr val="E1E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5024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519379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99.8% Uptime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50208" y="5193792"/>
            <a:ext cx="76928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Your store is never dark during peak demand - online exactly when customers order.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//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Mumbai, Fully Covered.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 strategically located white stores across Mumbai and Thane - Dahisar, Vakola, Santacruz, Chembur, Oshiwara, Hiranandani Estate, Khopat (Thane West), Fort, and Versova.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94415" cy="502920"/>
          </a:xfrm>
          <a:prstGeom prst="rect">
            <a:avLst/>
          </a:prstGeom>
          <a:solidFill>
            <a:srgbClr val="E9EC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346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 STORES  ·  MUMBAI + THANE  ·  1 PARTNER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408736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Wider Addressable Market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4590288"/>
            <a:ext cx="3099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store unlocks thousands of premium-consumer households across the highest-density areas in Mumbai and Thane.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9976" y="352044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36008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6008" y="408736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Redundancy &amp; Resilience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6008" y="4588111"/>
            <a:ext cx="3099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If one store goes offline, orders route to the nearest available location. Your brand never disappears from the platform.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11312" y="352044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67344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67344" y="408736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Hyperlocal Demand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67344" y="4493188"/>
            <a:ext cx="3099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track what sells where, so your brand can run location-specific campaigns, not just city-wide promotions.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0" dirty="0">
                <a:solidFill>
                  <a:srgbClr val="3E5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//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Taking White Stores Across India.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Propelpad's white store model is proven in Mumbai. </a:t>
            </a:r>
            <a:r>
              <a:rPr lang="en-US" sz="1300" b="1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19 new stores are already planned across 5 cities.</a:t>
            </a:r>
            <a:r>
              <a:rPr lang="en-US" sz="130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Data picked these locations, not intuition.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Expansion Timeline: </a:t>
            </a:r>
            <a:r>
              <a:rPr lang="en-US" sz="1600" b="1" dirty="0">
                <a:solidFill>
                  <a:srgbClr val="3E5CF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FY26-27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257800" cy="457200"/>
          </a:xfrm>
          <a:prstGeom prst="rect">
            <a:avLst/>
          </a:prstGeom>
          <a:solidFill>
            <a:srgbClr val="F0F1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060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Bangalore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 Stores · Q2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Delhi NCR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 Stores · Q2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257800" cy="457200"/>
          </a:xfrm>
          <a:prstGeom prst="rect">
            <a:avLst/>
          </a:prstGeom>
          <a:solidFill>
            <a:srgbClr val="F0F1F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204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Hyderabad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3400" y="3520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 Stores · Q3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Kolkata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43400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3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 Stores · Q3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+ 2 more stores launching in Pune, Q3 FY26-27.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2103120"/>
            <a:ext cx="5257800" cy="4251960"/>
          </a:xfrm>
          <a:prstGeom prst="rect">
            <a:avLst/>
          </a:prstGeom>
          <a:solidFill>
            <a:srgbClr val="3E5CF0"/>
          </a:solidFill>
          <a:ln/>
          <a:effectLst>
            <a:outerShdw blurRad="76200" dist="25400" dir="5400000" algn="bl" rotWithShape="0">
              <a:srgbClr val="B7BDD4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3774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19 New Stores.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2743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7EC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Across Bangalore, Delhi NCR,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7EC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Hyderabad, Kolkata &amp; Pune.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37033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 Same playbook that built 9 stores across Mumbai &amp; Thane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42336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 Data-led site selection - highest-demand food-ordering pockets only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476402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 Direct site visits, category compliance &amp; documentation handled for you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534009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E9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•  One playbook, one partner, every city we enter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0" y="2286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Ready to bring your brand to every doorstep?
</a:t>
            </a:r>
            <a:r>
              <a:rPr lang="en-US" sz="3800" b="1" dirty="0">
                <a:solidFill>
                  <a:srgbClr val="3E5CF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Let's talk.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166360" y="3810653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Gyan Menon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66360" y="4194701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CF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Co-Founder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4633613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Email: gm@propelpad.in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66360" y="4926221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Phone: +91 8424048334</a:t>
            </a:r>
            <a:endParaRPr lang="en-US" sz="115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7270920D-C37C-D144-8501-2B1D393938DF}"/>
              </a:ext>
            </a:extLst>
          </p:cNvPr>
          <p:cNvSpPr/>
          <p:nvPr/>
        </p:nvSpPr>
        <p:spPr>
          <a:xfrm>
            <a:off x="548640" y="3810653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Shanu</a:t>
            </a:r>
            <a:r>
              <a:rPr lang="en-US" sz="1700" b="1" dirty="0">
                <a:solidFill>
                  <a:srgbClr val="1213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Singh</a:t>
            </a:r>
            <a:endParaRPr lang="en-US" sz="17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DA212D15-C04C-CC44-9B21-69715A6F20EC}"/>
              </a:ext>
            </a:extLst>
          </p:cNvPr>
          <p:cNvSpPr/>
          <p:nvPr/>
        </p:nvSpPr>
        <p:spPr>
          <a:xfrm>
            <a:off x="548640" y="4194701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CF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Mumbai City Lead</a:t>
            </a:r>
            <a:endParaRPr lang="en-US" sz="12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3992EBF-76B0-3F40-81EF-24C3F133D533}"/>
              </a:ext>
            </a:extLst>
          </p:cNvPr>
          <p:cNvSpPr/>
          <p:nvPr/>
        </p:nvSpPr>
        <p:spPr>
          <a:xfrm>
            <a:off x="548640" y="4633613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Email: </a:t>
            </a:r>
            <a:r>
              <a:rPr lang="en-US" sz="1150" dirty="0" err="1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shanu.singh@propelpad.in</a:t>
            </a:r>
            <a:endParaRPr lang="en-US" sz="115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FB3A9F9-CC0A-7049-9B7C-9CD7C1B28AFE}"/>
              </a:ext>
            </a:extLst>
          </p:cNvPr>
          <p:cNvSpPr/>
          <p:nvPr/>
        </p:nvSpPr>
        <p:spPr>
          <a:xfrm>
            <a:off x="548640" y="4926221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Phone: +91 8237981485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1170</Words>
  <Application>Microsoft Macintosh PowerPoint</Application>
  <PresentationFormat>Widescreen</PresentationFormat>
  <Paragraphs>175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Courier New</vt:lpstr>
      <vt:lpstr>Instrument Sans Medium</vt:lpstr>
      <vt:lpstr>Instrument Sans Semi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6</cp:revision>
  <dcterms:created xsi:type="dcterms:W3CDTF">2026-07-17T21:47:14Z</dcterms:created>
  <dcterms:modified xsi:type="dcterms:W3CDTF">2026-09-26T07:52:14Z</dcterms:modified>
</cp:coreProperties>
</file>